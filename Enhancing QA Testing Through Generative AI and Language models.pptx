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73" r:id="rId3"/>
    <p:sldId id="285" r:id="rId4"/>
    <p:sldId id="291" r:id="rId5"/>
    <p:sldId id="282" r:id="rId6"/>
    <p:sldId id="289" r:id="rId7"/>
    <p:sldId id="281" r:id="rId8"/>
    <p:sldId id="290" r:id="rId9"/>
    <p:sldId id="2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B"/>
    <a:srgbClr val="F9D9F1"/>
    <a:srgbClr val="EB1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AD9A-C8E8-B72F-0672-1B925C9F0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95CB0-C788-2948-0D77-B019AAEAE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B545A-469E-FCF6-89F2-3D0C666D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55B1B-CBA9-F3A0-BF56-23048E37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80DC8-5A1A-E1D4-DADF-8FC2BBD7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34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047A-798E-31CB-4666-C2B4A0C0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01E2A-02B0-4468-542C-FBB5ADC7F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FF63-EA66-BE27-A407-0CC5EC58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ADC93-B9C5-831F-68C3-82C16977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B66ED-5CF3-50D4-66B7-9A80D2BE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3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CA38-DEB6-7494-1525-FE1BF1C0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1335E-923A-DAA6-D7EF-8D21C67D3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748F-6E91-F9A8-771B-3BF4399D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51FF9-1971-E354-F62B-6DFD8847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0C93-956C-C70D-491D-B792BE01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1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BCD7-DA9E-15D5-55F9-CAD4AD25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117D5-52B7-1F63-DC23-A75C0693E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5BE15-E901-1CC6-8B3D-D8FA6F644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1B76B-C14A-4009-72EA-5AA752F3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2CE67-56D3-8F2A-1BB8-C4767C20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A2320-774B-AED9-2294-619ED92D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2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A555-C4F0-A8ED-35B6-5423F4B3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68309-5632-D83A-4487-554E13A0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162D-E6A6-C6E3-180F-C9612A33C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1F773-E21D-7B4B-C1A4-154D46F3B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6F8FE-AD01-CE3E-8ACE-F4939F033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57F51-2F51-5F5B-CFF7-81CE6C83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6B15E-88CD-B843-F5C1-68F9699A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93B76-0823-F25B-0369-05353BD2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3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1EE6-0F04-1D3C-B299-D5A31A7A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E6995-F592-1872-42CA-1E88B1DE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F5B40-4CC2-2CE9-7C3F-84DB1181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736C2-42F5-5AB5-5DF5-050F85C8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9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0DB84-35CF-79DA-0562-D5EC82CE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9DEFA-9AE6-E05B-445D-727003F7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5D120-5A74-BDDF-1B6C-6F1B2A62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68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34CD-C582-B33A-5A08-5F69B605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FD333-CF83-0D78-2FAD-F5C04505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6EBC9-F28C-35DC-DD12-4C51C87F0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F79B4-DCCA-2EF4-99A3-761A7F2F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F804D-2D97-772F-A2B3-6C74BC75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03902-6460-8030-C019-04672E7F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93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0DC5-B93F-8FE8-8956-94288741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0894A-FED3-DDC5-2129-CA3CB51C4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04D47-E7AF-AB2C-F344-AD3B9E819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8CA9-C96D-FD40-E34A-AAD6E32B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66C5A-9662-800C-7C10-CD06360E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51B34-CF2C-BD5F-CD5D-AAB40F30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4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8BDD-8A17-E387-E40F-9B735FF6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FCD9E-CD04-65AA-DA9A-9FCD9BFF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70A19-84CD-11E8-EBB1-764F7106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C374-C922-6A8C-74B4-6F11E82D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B9F-7FCB-35A1-B81B-4B36980A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0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D0B59-4DF5-1501-179D-DFDD11390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6982F-C8C9-B7F6-7A9D-FB6630FC0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E2C5-6A9F-C6A1-A6A9-6FC3DA2D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AACB-E5AB-1F1E-984F-0DA620B3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8CC1-7840-C158-7DBD-C3A9FB73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2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1DB87-540F-9252-18D3-C63125726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BAD40-D3FF-75FF-1541-A0368517E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26E6-51E8-4343-486E-4BF01BF1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7606A-2F8F-4E9A-A640-627756A9A1F7}" type="datetimeFigureOut">
              <a:rPr lang="en-IN" smtClean="0"/>
              <a:t>25-11-2023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57DF-E66D-7781-E628-22539513A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D682-6608-93FE-0D38-57590490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33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5ADBC-A257-B7C0-4328-820E6609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946107" cy="3081242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Enhancing QA Testing Through Generative AI and Language models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31060-D3C3-F6A3-996E-09BD9010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Anjali Kulkarni</a:t>
            </a:r>
          </a:p>
          <a:p>
            <a:r>
              <a:rPr lang="en-US" dirty="0">
                <a:solidFill>
                  <a:srgbClr val="FFFFFF"/>
                </a:solidFill>
              </a:rPr>
              <a:t>25 Nov 2023</a:t>
            </a:r>
          </a:p>
          <a:p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22261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Agenda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Introduction – Generative AI</a:t>
            </a:r>
          </a:p>
          <a:p>
            <a:r>
              <a:rPr lang="en-US" sz="2400" dirty="0">
                <a:latin typeface="+mj-lt"/>
              </a:rPr>
              <a:t>QA challenges - AI Solutions</a:t>
            </a:r>
          </a:p>
          <a:p>
            <a:r>
              <a:rPr lang="en-US" sz="2400" dirty="0">
                <a:latin typeface="+mj-lt"/>
              </a:rPr>
              <a:t>Vertex AI - Terminologies </a:t>
            </a:r>
          </a:p>
          <a:p>
            <a:r>
              <a:rPr lang="en-US" sz="2400" dirty="0">
                <a:latin typeface="+mj-lt"/>
              </a:rPr>
              <a:t>Using Vertex AI and PaLM APIs </a:t>
            </a:r>
          </a:p>
          <a:p>
            <a:r>
              <a:rPr lang="en-US" sz="2400" dirty="0">
                <a:latin typeface="+mj-lt"/>
              </a:rPr>
              <a:t>PaLM API parameters</a:t>
            </a:r>
          </a:p>
          <a:p>
            <a:r>
              <a:rPr lang="en-US" sz="2400" dirty="0">
                <a:latin typeface="+mj-lt"/>
              </a:rPr>
              <a:t>Prompting techniques</a:t>
            </a: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179805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6"/>
            <a:ext cx="3201366" cy="3551511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Introduction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Generative AI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C6A1A-7E65-537F-5204-7895E4F1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95" y="254594"/>
            <a:ext cx="7384781" cy="605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7621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250994"/>
            <a:ext cx="3201366" cy="2274631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QA challenges AI Solutions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0EA3B-7D53-E850-F06F-58389A753E96}"/>
              </a:ext>
            </a:extLst>
          </p:cNvPr>
          <p:cNvSpPr txBox="1"/>
          <p:nvPr/>
        </p:nvSpPr>
        <p:spPr>
          <a:xfrm>
            <a:off x="4846608" y="895961"/>
            <a:ext cx="6165130" cy="516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Requirement Analysis - NLP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Summarizations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b="1" kern="1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Regression Testing - NLP</a:t>
            </a:r>
            <a:endParaRPr lang="en-IN" b="1" kern="1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Impact analysis due to changes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endParaRPr lang="en-IN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UI or API automation –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GenAI</a:t>
            </a:r>
            <a:endParaRPr lang="en-IN" sz="1800" b="1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Automated testcase generation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b="1" kern="100" dirty="0" err="1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Testdata</a:t>
            </a:r>
            <a:r>
              <a:rPr lang="en-IN" b="1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generation </a:t>
            </a:r>
            <a:r>
              <a:rPr lang="en-IN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- </a:t>
            </a:r>
            <a:r>
              <a:rPr lang="en-IN" b="1" kern="100" dirty="0" err="1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GenAI</a:t>
            </a:r>
            <a:endParaRPr lang="en-IN" b="1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Diverse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Large Volume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kern="1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Secure</a:t>
            </a:r>
            <a:endParaRPr lang="en-IN" sz="18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31082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r>
              <a:rPr lang="en-US" sz="4000" dirty="0">
                <a:solidFill>
                  <a:schemeClr val="bg1"/>
                </a:solidFill>
                <a:latin typeface="+mj-lt"/>
              </a:rPr>
              <a:t>Vertex AI Terminologies</a:t>
            </a:r>
            <a:br>
              <a:rPr lang="en-US" sz="4000" dirty="0">
                <a:solidFill>
                  <a:schemeClr val="bg1"/>
                </a:solidFill>
              </a:rPr>
            </a:b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6"/>
            <a:ext cx="6849251" cy="5991637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r>
              <a:rPr lang="en-US" sz="1800" b="1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VertexAI</a:t>
            </a:r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– Google machine learning platform</a:t>
            </a:r>
          </a:p>
          <a:p>
            <a:endParaRPr lang="en-US" sz="1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Foundation models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– Pretrained models</a:t>
            </a:r>
          </a:p>
          <a:p>
            <a:pPr marL="0" indent="0">
              <a:buNone/>
            </a:pPr>
            <a:endParaRPr lang="en-US" sz="1800" b="1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PaLM</a:t>
            </a:r>
            <a:r>
              <a:rPr lang="en-US" sz="18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– Pathways AI Language Model</a:t>
            </a:r>
          </a:p>
          <a:p>
            <a:endParaRPr lang="en-US" sz="18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Google BARD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– Conversational chat interface</a:t>
            </a:r>
          </a:p>
          <a:p>
            <a:endParaRPr lang="en-US" sz="18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PaLM API 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– </a:t>
            </a:r>
            <a:r>
              <a:rPr lang="en-US" sz="1800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rogrammatic interface</a:t>
            </a:r>
          </a:p>
          <a:p>
            <a:endParaRPr lang="en-US" sz="18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Prompt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–Context, Natural language request</a:t>
            </a:r>
            <a:r>
              <a:rPr lang="en-US" sz="18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</a:p>
          <a:p>
            <a:endParaRPr lang="en-US" sz="1800" b="1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800" b="1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MakerSuite</a:t>
            </a:r>
            <a:r>
              <a:rPr lang="en-US" sz="18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– Browser based IDE</a:t>
            </a: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39391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4"/>
            <a:ext cx="3201366" cy="3985145"/>
          </a:xfrm>
        </p:spPr>
        <p:txBody>
          <a:bodyPr anchor="b">
            <a:normAutofit fontScale="90000"/>
          </a:bodyPr>
          <a:lstStyle/>
          <a:p>
            <a:pPr algn="ctr"/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r>
              <a:rPr lang="en-US" dirty="0">
                <a:solidFill>
                  <a:schemeClr val="bg1"/>
                </a:solidFill>
              </a:rPr>
              <a:t>Vertex AI and PaLM APIs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816042-B4D3-60BD-0456-7894569955B0}"/>
              </a:ext>
            </a:extLst>
          </p:cNvPr>
          <p:cNvSpPr txBox="1"/>
          <p:nvPr/>
        </p:nvSpPr>
        <p:spPr>
          <a:xfrm>
            <a:off x="4504540" y="681037"/>
            <a:ext cx="6165130" cy="266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Create a google cloud platform account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Create keys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Save on local machine as environment variables – ‘GOOGLE_APPLICATION_CREDENTIALS’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Install library - google-</a:t>
            </a:r>
            <a:r>
              <a:rPr lang="en-IN" dirty="0" err="1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generativeai</a:t>
            </a:r>
            <a:endParaRPr lang="en-IN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 IDE 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38188F-DEB7-44B6-04ED-EA0FA5F08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272" y="3357871"/>
            <a:ext cx="713422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8080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4022852"/>
          </a:xfrm>
        </p:spPr>
        <p:txBody>
          <a:bodyPr anchor="b">
            <a:normAutofit/>
          </a:bodyPr>
          <a:lstStyle/>
          <a:p>
            <a:pPr algn="ctr"/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r>
              <a:rPr lang="en-US" sz="4000" dirty="0">
                <a:solidFill>
                  <a:schemeClr val="bg1"/>
                </a:solidFill>
                <a:latin typeface="+mj-lt"/>
              </a:rPr>
              <a:t>Prompting Techniques</a:t>
            </a: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br>
              <a:rPr lang="en-US" sz="4000" dirty="0">
                <a:solidFill>
                  <a:schemeClr val="bg1"/>
                </a:solidFill>
              </a:rPr>
            </a:b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F2A60-E083-843C-860B-44C2AE7A2FBB}"/>
              </a:ext>
            </a:extLst>
          </p:cNvPr>
          <p:cNvSpPr txBox="1"/>
          <p:nvPr/>
        </p:nvSpPr>
        <p:spPr>
          <a:xfrm>
            <a:off x="4647414" y="1171648"/>
            <a:ext cx="6165130" cy="3964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1800" kern="100" spc="-5" dirty="0">
              <a:solidFill>
                <a:srgbClr val="242424"/>
              </a:solidFill>
              <a:effectLst/>
              <a:latin typeface="Georgia" panose="02040502050405020303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Zero-shot – No sample examples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spc="-5" dirty="0">
              <a:solidFill>
                <a:srgbClr val="242424"/>
              </a:solidFill>
              <a:latin typeface="Georgia" panose="02040502050405020303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Few-shot – Setting context for desired responses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spc="-5" dirty="0">
              <a:solidFill>
                <a:srgbClr val="242424"/>
              </a:solidFill>
              <a:latin typeface="Georgia" panose="02040502050405020303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Chain-of-Thought (</a:t>
            </a:r>
            <a:r>
              <a:rPr lang="en-IN" sz="1800" kern="100" spc="-5" dirty="0" err="1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CoT</a:t>
            </a: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 – Sequence of conditions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sz="1800" kern="100" spc="-5" dirty="0">
              <a:solidFill>
                <a:srgbClr val="242424"/>
              </a:solidFill>
              <a:effectLst/>
              <a:latin typeface="Georgia" panose="02040502050405020303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Self-Consistency – Sampling of outputs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IN" kern="100" spc="-5" dirty="0">
              <a:solidFill>
                <a:srgbClr val="242424"/>
              </a:solidFill>
              <a:latin typeface="Georgia" panose="02040502050405020303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kern="100" spc="-5" dirty="0">
                <a:solidFill>
                  <a:srgbClr val="242424"/>
                </a:solidFill>
                <a:effectLst/>
                <a:latin typeface="Georgia" panose="02040502050405020303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Generated Knowledge Prompting – Generate knowledge</a:t>
            </a:r>
            <a:endParaRPr lang="en-IN" sz="1200" kern="1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62132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6855"/>
            <a:ext cx="4037825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+mj-lt"/>
              </a:rPr>
              <a:t>Demo </a:t>
            </a:r>
            <a:br>
              <a:rPr lang="en-US" sz="4000" dirty="0">
                <a:solidFill>
                  <a:schemeClr val="bg1"/>
                </a:solidFill>
                <a:latin typeface="+mj-lt"/>
              </a:rPr>
            </a:br>
            <a:r>
              <a:rPr lang="en-US" sz="4000" dirty="0" err="1">
                <a:solidFill>
                  <a:schemeClr val="bg1"/>
                </a:solidFill>
                <a:latin typeface="+mj-lt"/>
              </a:rPr>
              <a:t>Testdata</a:t>
            </a:r>
            <a:r>
              <a:rPr lang="en-US" sz="4000" dirty="0">
                <a:solidFill>
                  <a:schemeClr val="bg1"/>
                </a:solidFill>
                <a:latin typeface="+mj-lt"/>
              </a:rPr>
              <a:t> Generation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03308-6068-9AB9-C6C5-2732CF799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519" y="486383"/>
            <a:ext cx="705802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3315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5ADBC-A257-B7C0-4328-820E6609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Thank You!!</a:t>
            </a:r>
            <a:endParaRPr lang="en-IN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17219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6040</TotalTime>
  <Words>213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Symbol</vt:lpstr>
      <vt:lpstr>Office Theme</vt:lpstr>
      <vt:lpstr>Enhancing QA Testing Through Generative AI and Language models</vt:lpstr>
      <vt:lpstr>Agenda </vt:lpstr>
      <vt:lpstr>Introduction Generative AI </vt:lpstr>
      <vt:lpstr>QA challenges AI Solutions</vt:lpstr>
      <vt:lpstr>  Vertex AI Terminologies </vt:lpstr>
      <vt:lpstr>     Vertex AI and PaLM APIs  </vt:lpstr>
      <vt:lpstr> Prompting Techniques  </vt:lpstr>
      <vt:lpstr>Demo  Testdata Generation</vt:lpstr>
      <vt:lpstr> 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Automation Frameworks from scratch</dc:title>
  <dc:creator>Anjali Kulkarni</dc:creator>
  <cp:lastModifiedBy>Anjali Kulkarni</cp:lastModifiedBy>
  <cp:revision>17</cp:revision>
  <dcterms:created xsi:type="dcterms:W3CDTF">2023-10-25T09:38:03Z</dcterms:created>
  <dcterms:modified xsi:type="dcterms:W3CDTF">2023-11-25T01:27:34Z</dcterms:modified>
</cp:coreProperties>
</file>